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3"/>
  </p:notesMasterIdLst>
  <p:handoutMasterIdLst>
    <p:handoutMasterId r:id="rId14"/>
  </p:handoutMasterIdLst>
  <p:sldIdLst>
    <p:sldId id="264" r:id="rId2"/>
    <p:sldId id="291" r:id="rId3"/>
    <p:sldId id="299" r:id="rId4"/>
    <p:sldId id="292" r:id="rId5"/>
    <p:sldId id="293" r:id="rId6"/>
    <p:sldId id="306" r:id="rId7"/>
    <p:sldId id="310" r:id="rId8"/>
    <p:sldId id="311" r:id="rId9"/>
    <p:sldId id="312" r:id="rId10"/>
    <p:sldId id="314" r:id="rId11"/>
    <p:sldId id="313" r:id="rId12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7ADAC988-813A-45E1-B6D2-41520E2CD881}" type="slidenum">
              <a:rPr lang="en-US" altLang="fr-FR" sz="1200"/>
              <a:pPr/>
              <a:t>2</a:t>
            </a:fld>
            <a:endParaRPr lang="en-US" altLang="fr-FR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095744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7294C991-BF3F-4811-BAE0-691EB49D6986}" type="slidenum">
              <a:rPr lang="en-US" altLang="fr-FR" sz="1200"/>
              <a:pPr/>
              <a:t>4</a:t>
            </a:fld>
            <a:endParaRPr lang="en-US" altLang="fr-FR" sz="120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155864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noFill/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A99D6563-79E5-46F8-A10A-BB79EE27AA15}" type="slidenum">
              <a:rPr lang="en-US" altLang="fr-FR" sz="1200"/>
              <a:pPr/>
              <a:t>5</a:t>
            </a:fld>
            <a:endParaRPr lang="en-US" altLang="fr-FR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77888" y="733425"/>
            <a:ext cx="4892675" cy="3670300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89115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10</a:t>
            </a:r>
          </a:p>
          <a:p>
            <a:pPr eaLnBrk="1" hangingPunct="1"/>
            <a:r>
              <a:rPr lang="fr-FR" altLang="fr-FR" dirty="0"/>
              <a:t>Polymorphisme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4"/>
          <p:cNvSpPr>
            <a:spLocks noChangeArrowheads="1"/>
          </p:cNvSpPr>
          <p:nvPr/>
        </p:nvSpPr>
        <p:spPr bwMode="auto">
          <a:xfrm>
            <a:off x="860425" y="1112838"/>
            <a:ext cx="7378700" cy="5029200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solidFill>
                  <a:srgbClr val="000000"/>
                </a:solidFill>
              </a:rPr>
              <a:t>Polymorphisme</a:t>
            </a:r>
            <a:endParaRPr lang="en-GB" altLang="fr-FR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5" y="1808163"/>
            <a:ext cx="6873875" cy="4287837"/>
          </a:xfrm>
        </p:spPr>
        <p:txBody>
          <a:bodyPr/>
          <a:lstStyle/>
          <a:p>
            <a:r>
              <a:rPr lang="en-US" altLang="fr-FR" sz="2000" dirty="0">
                <a:solidFill>
                  <a:srgbClr val="000000"/>
                </a:solidFill>
              </a:rPr>
              <a:t>Le nom de la </a:t>
            </a:r>
            <a:r>
              <a:rPr lang="en-US" altLang="fr-FR" sz="2000" dirty="0" err="1">
                <a:solidFill>
                  <a:srgbClr val="000000"/>
                </a:solidFill>
              </a:rPr>
              <a:t>méthode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réside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dans</a:t>
            </a:r>
            <a:r>
              <a:rPr lang="en-US" altLang="fr-FR" sz="2000" dirty="0">
                <a:solidFill>
                  <a:srgbClr val="000000"/>
                </a:solidFill>
              </a:rPr>
              <a:t> la </a:t>
            </a:r>
            <a:r>
              <a:rPr lang="en-US" altLang="fr-FR" sz="2000" dirty="0" err="1">
                <a:solidFill>
                  <a:srgbClr val="000000"/>
                </a:solidFill>
              </a:rPr>
              <a:t>classe</a:t>
            </a:r>
            <a:r>
              <a:rPr lang="en-US" altLang="fr-FR" sz="2000" dirty="0">
                <a:solidFill>
                  <a:srgbClr val="000000"/>
                </a:solidFill>
              </a:rPr>
              <a:t> de base</a:t>
            </a:r>
            <a:endParaRPr lang="en-GB" altLang="fr-FR" sz="2000" dirty="0"/>
          </a:p>
          <a:p>
            <a:r>
              <a:rPr lang="en-US" altLang="fr-FR" sz="2000" dirty="0">
                <a:solidFill>
                  <a:srgbClr val="000000"/>
                </a:solidFill>
              </a:rPr>
              <a:t>Les </a:t>
            </a:r>
            <a:r>
              <a:rPr lang="en-US" altLang="fr-FR" sz="2000" dirty="0" err="1">
                <a:solidFill>
                  <a:srgbClr val="000000"/>
                </a:solidFill>
              </a:rPr>
              <a:t>implémentations</a:t>
            </a:r>
            <a:r>
              <a:rPr lang="en-US" altLang="fr-FR" sz="2000" dirty="0">
                <a:solidFill>
                  <a:srgbClr val="000000"/>
                </a:solidFill>
              </a:rPr>
              <a:t> de la </a:t>
            </a:r>
            <a:r>
              <a:rPr lang="en-US" altLang="fr-FR" sz="2000" dirty="0" err="1">
                <a:solidFill>
                  <a:srgbClr val="000000"/>
                </a:solidFill>
              </a:rPr>
              <a:t>méthode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résident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dans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br>
              <a:rPr lang="en-US" altLang="fr-FR" sz="2000" dirty="0">
                <a:solidFill>
                  <a:srgbClr val="000000"/>
                </a:solidFill>
              </a:rPr>
            </a:br>
            <a:r>
              <a:rPr lang="en-US" altLang="fr-FR" sz="2000" dirty="0">
                <a:solidFill>
                  <a:srgbClr val="000000"/>
                </a:solidFill>
              </a:rPr>
              <a:t>les classes </a:t>
            </a:r>
            <a:r>
              <a:rPr lang="en-US" altLang="fr-FR" sz="2000" dirty="0" err="1">
                <a:solidFill>
                  <a:srgbClr val="000000"/>
                </a:solidFill>
              </a:rPr>
              <a:t>dérivées</a:t>
            </a:r>
            <a:endParaRPr lang="en-GB" altLang="fr-FR" sz="2000" dirty="0">
              <a:solidFill>
                <a:srgbClr val="000000"/>
              </a:solidFill>
            </a:endParaRPr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3124200" y="3200400"/>
            <a:ext cx="2514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Musicien à cordes</a:t>
            </a:r>
            <a:endParaRPr lang="en-GB" altLang="fr-FR" sz="1600"/>
          </a:p>
        </p:txBody>
      </p:sp>
      <p:sp>
        <p:nvSpPr>
          <p:cNvPr id="57350" name="AutoShape 5"/>
          <p:cNvSpPr>
            <a:spLocks noChangeArrowheads="1"/>
          </p:cNvSpPr>
          <p:nvPr/>
        </p:nvSpPr>
        <p:spPr bwMode="auto">
          <a:xfrm>
            <a:off x="4267200" y="41148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auto">
          <a:xfrm>
            <a:off x="3124200" y="3657600"/>
            <a:ext cx="2514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 dirty="0" err="1">
                <a:solidFill>
                  <a:srgbClr val="000000"/>
                </a:solidFill>
              </a:rPr>
              <a:t>AccorderVotreInstrument</a:t>
            </a:r>
            <a:r>
              <a:rPr lang="en-US" altLang="fr-FR" sz="1600" dirty="0">
                <a:solidFill>
                  <a:srgbClr val="000000"/>
                </a:solidFill>
              </a:rPr>
              <a:t>( )</a:t>
            </a:r>
            <a:endParaRPr lang="en-GB" altLang="fr-FR" sz="1600" dirty="0"/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auto">
          <a:xfrm>
            <a:off x="1676400" y="5029200"/>
            <a:ext cx="2514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Guitariste</a:t>
            </a:r>
            <a:endParaRPr lang="en-GB" altLang="fr-FR" sz="1600"/>
          </a:p>
        </p:txBody>
      </p:sp>
      <p:sp>
        <p:nvSpPr>
          <p:cNvPr id="57353" name="Rectangle 8"/>
          <p:cNvSpPr>
            <a:spLocks noChangeArrowheads="1"/>
          </p:cNvSpPr>
          <p:nvPr/>
        </p:nvSpPr>
        <p:spPr bwMode="auto">
          <a:xfrm>
            <a:off x="1676400" y="5486400"/>
            <a:ext cx="25146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AccorderVotreInstrument( )</a:t>
            </a:r>
            <a:endParaRPr lang="en-GB" altLang="fr-FR" sz="1600"/>
          </a:p>
        </p:txBody>
      </p:sp>
      <p:sp>
        <p:nvSpPr>
          <p:cNvPr id="57354" name="Rectangle 9"/>
          <p:cNvSpPr>
            <a:spLocks noChangeArrowheads="1"/>
          </p:cNvSpPr>
          <p:nvPr/>
        </p:nvSpPr>
        <p:spPr bwMode="auto">
          <a:xfrm>
            <a:off x="4648200" y="5029200"/>
            <a:ext cx="24384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Violoniste</a:t>
            </a:r>
            <a:endParaRPr lang="en-GB" altLang="fr-FR" sz="1600"/>
          </a:p>
        </p:txBody>
      </p:sp>
      <p:sp>
        <p:nvSpPr>
          <p:cNvPr id="57355" name="Rectangle 10"/>
          <p:cNvSpPr>
            <a:spLocks noChangeArrowheads="1"/>
          </p:cNvSpPr>
          <p:nvPr/>
        </p:nvSpPr>
        <p:spPr bwMode="auto">
          <a:xfrm>
            <a:off x="4648200" y="5486400"/>
            <a:ext cx="24384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AccorderVotreInstrument( )</a:t>
            </a:r>
            <a:endParaRPr lang="en-GB" altLang="fr-FR" sz="1600"/>
          </a:p>
        </p:txBody>
      </p:sp>
      <p:cxnSp>
        <p:nvCxnSpPr>
          <p:cNvPr id="57356" name="AutoShape 11"/>
          <p:cNvCxnSpPr>
            <a:cxnSpLocks noChangeShapeType="1"/>
            <a:stCxn id="57350" idx="3"/>
            <a:endCxn id="57352" idx="0"/>
          </p:cNvCxnSpPr>
          <p:nvPr/>
        </p:nvCxnSpPr>
        <p:spPr bwMode="auto">
          <a:xfrm rot="5400000">
            <a:off x="3371850" y="3981450"/>
            <a:ext cx="609600" cy="14859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357" name="AutoShape 12"/>
          <p:cNvCxnSpPr>
            <a:cxnSpLocks noChangeShapeType="1"/>
            <a:stCxn id="57350" idx="3"/>
            <a:endCxn id="57354" idx="0"/>
          </p:cNvCxnSpPr>
          <p:nvPr/>
        </p:nvCxnSpPr>
        <p:spPr bwMode="auto">
          <a:xfrm rot="16200000" flipH="1">
            <a:off x="4838700" y="4000500"/>
            <a:ext cx="609600" cy="1447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43435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polymorphisme en Python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r>
              <a:rPr lang="fr-FR" dirty="0"/>
              <a:t>Les méthodes sont automatiquement virtuelles</a:t>
            </a:r>
          </a:p>
          <a:p>
            <a:r>
              <a:rPr lang="fr-FR" dirty="0"/>
              <a:t>Les méthodes peuvent être redéfinies</a:t>
            </a:r>
          </a:p>
          <a:p>
            <a:r>
              <a:rPr lang="fr-FR" dirty="0"/>
              <a:t>Python va chercher la méthode la plus spécialisée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140968"/>
            <a:ext cx="5866757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89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2"/>
          <p:cNvSpPr>
            <a:spLocks noChangeArrowheads="1"/>
          </p:cNvSpPr>
          <p:nvPr/>
        </p:nvSpPr>
        <p:spPr bwMode="auto">
          <a:xfrm>
            <a:off x="860425" y="1112838"/>
            <a:ext cx="7378700" cy="5029200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solidFill>
                  <a:srgbClr val="000000"/>
                </a:solidFill>
              </a:rPr>
              <a:t>Classes de base abstraites</a:t>
            </a:r>
            <a:endParaRPr lang="en-GB" altLang="fr-FR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5" y="1600200"/>
            <a:ext cx="7194550" cy="4287838"/>
          </a:xfrm>
        </p:spPr>
        <p:txBody>
          <a:bodyPr/>
          <a:lstStyle/>
          <a:p>
            <a:r>
              <a:rPr lang="en-US" altLang="fr-FR" sz="2400" dirty="0" err="1">
                <a:solidFill>
                  <a:srgbClr val="000000"/>
                </a:solidFill>
              </a:rPr>
              <a:t>Certaines</a:t>
            </a:r>
            <a:r>
              <a:rPr lang="en-US" altLang="fr-FR" sz="2400" dirty="0">
                <a:solidFill>
                  <a:srgbClr val="000000"/>
                </a:solidFill>
              </a:rPr>
              <a:t> classes existent dans le </a:t>
            </a:r>
            <a:r>
              <a:rPr lang="en-US" altLang="fr-FR" sz="2400" dirty="0" err="1">
                <a:solidFill>
                  <a:srgbClr val="000000"/>
                </a:solidFill>
              </a:rPr>
              <a:t>seul</a:t>
            </a:r>
            <a:r>
              <a:rPr lang="en-US" altLang="fr-FR" sz="2400" dirty="0">
                <a:solidFill>
                  <a:srgbClr val="000000"/>
                </a:solidFill>
              </a:rPr>
              <a:t> but de </a:t>
            </a:r>
            <a:r>
              <a:rPr lang="en-US" altLang="fr-FR" sz="2400" dirty="0" err="1">
                <a:solidFill>
                  <a:srgbClr val="000000"/>
                </a:solidFill>
              </a:rPr>
              <a:t>servir</a:t>
            </a:r>
            <a:r>
              <a:rPr lang="en-US" altLang="fr-FR" sz="2400">
                <a:solidFill>
                  <a:srgbClr val="000000"/>
                </a:solidFill>
              </a:rPr>
              <a:t> à </a:t>
            </a:r>
            <a:r>
              <a:rPr lang="en-US" altLang="fr-FR" sz="2400" dirty="0">
                <a:solidFill>
                  <a:srgbClr val="000000"/>
                </a:solidFill>
              </a:rPr>
              <a:t>la </a:t>
            </a:r>
            <a:r>
              <a:rPr lang="en-US" altLang="fr-FR" sz="2400" dirty="0" err="1">
                <a:solidFill>
                  <a:srgbClr val="000000"/>
                </a:solidFill>
              </a:rPr>
              <a:t>dérivation</a:t>
            </a:r>
            <a:endParaRPr lang="en-GB" altLang="fr-FR" sz="2400" dirty="0"/>
          </a:p>
          <a:p>
            <a:pPr lvl="1"/>
            <a:r>
              <a:rPr lang="en-US" altLang="fr-FR" sz="2000" dirty="0" err="1">
                <a:solidFill>
                  <a:srgbClr val="000000"/>
                </a:solidFill>
              </a:rPr>
              <a:t>Créer</a:t>
            </a:r>
            <a:r>
              <a:rPr lang="en-US" altLang="fr-FR" sz="2000" dirty="0">
                <a:solidFill>
                  <a:srgbClr val="000000"/>
                </a:solidFill>
              </a:rPr>
              <a:t> des instances de </a:t>
            </a:r>
            <a:r>
              <a:rPr lang="en-US" altLang="fr-FR" sz="2000" dirty="0" err="1">
                <a:solidFill>
                  <a:srgbClr val="000000"/>
                </a:solidFill>
              </a:rPr>
              <a:t>ces</a:t>
            </a:r>
            <a:r>
              <a:rPr lang="en-US" altLang="fr-FR" sz="2000" dirty="0">
                <a:solidFill>
                  <a:srgbClr val="000000"/>
                </a:solidFill>
              </a:rPr>
              <a:t> classes </a:t>
            </a:r>
            <a:r>
              <a:rPr lang="en-US" altLang="fr-FR" sz="2000" dirty="0" err="1">
                <a:solidFill>
                  <a:srgbClr val="000000"/>
                </a:solidFill>
              </a:rPr>
              <a:t>n'a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aucun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dirty="0" err="1">
                <a:solidFill>
                  <a:srgbClr val="000000"/>
                </a:solidFill>
              </a:rPr>
              <a:t>sens</a:t>
            </a:r>
            <a:endParaRPr lang="en-GB" altLang="fr-FR" sz="2000" dirty="0"/>
          </a:p>
          <a:p>
            <a:pPr lvl="1"/>
            <a:r>
              <a:rPr lang="en-US" altLang="fr-FR" sz="2000" dirty="0" err="1">
                <a:solidFill>
                  <a:srgbClr val="000000"/>
                </a:solidFill>
              </a:rPr>
              <a:t>Ces</a:t>
            </a:r>
            <a:r>
              <a:rPr lang="en-US" altLang="fr-FR" sz="2000" dirty="0">
                <a:solidFill>
                  <a:srgbClr val="000000"/>
                </a:solidFill>
              </a:rPr>
              <a:t> classes </a:t>
            </a:r>
            <a:r>
              <a:rPr lang="en-US" altLang="fr-FR" sz="2000" dirty="0" err="1">
                <a:solidFill>
                  <a:srgbClr val="000000"/>
                </a:solidFill>
              </a:rPr>
              <a:t>sont</a:t>
            </a:r>
            <a:r>
              <a:rPr lang="en-US" altLang="fr-FR" sz="2000" dirty="0">
                <a:solidFill>
                  <a:srgbClr val="000000"/>
                </a:solidFill>
              </a:rPr>
              <a:t> </a:t>
            </a:r>
            <a:r>
              <a:rPr lang="en-US" altLang="fr-FR" sz="2000" i="1" dirty="0" err="1">
                <a:solidFill>
                  <a:srgbClr val="000000"/>
                </a:solidFill>
              </a:rPr>
              <a:t>abstraites</a:t>
            </a:r>
            <a:endParaRPr lang="en-GB" altLang="fr-FR" sz="2000" i="1" dirty="0">
              <a:solidFill>
                <a:srgbClr val="000000"/>
              </a:solidFill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3276600" y="3629025"/>
            <a:ext cx="1981200" cy="838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/>
              <a:t>Musicien à cordes</a:t>
            </a:r>
          </a:p>
          <a:p>
            <a:pPr algn="ctr"/>
            <a:r>
              <a:rPr lang="en-US" altLang="fr-FR" sz="1600"/>
              <a:t>{ abstrait }</a:t>
            </a:r>
          </a:p>
        </p:txBody>
      </p:sp>
      <p:sp>
        <p:nvSpPr>
          <p:cNvPr id="59398" name="AutoShape 5"/>
          <p:cNvSpPr>
            <a:spLocks noChangeArrowheads="1"/>
          </p:cNvSpPr>
          <p:nvPr/>
        </p:nvSpPr>
        <p:spPr bwMode="auto">
          <a:xfrm>
            <a:off x="4114800" y="4467225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2133600" y="5229225"/>
            <a:ext cx="1905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Guitariste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« concret »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auto">
          <a:xfrm>
            <a:off x="4495800" y="5229225"/>
            <a:ext cx="19050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Violoniste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« concret »</a:t>
            </a:r>
            <a:endParaRPr lang="en-GB" altLang="fr-FR" sz="1600">
              <a:solidFill>
                <a:srgbClr val="000000"/>
              </a:solidFill>
            </a:endParaRPr>
          </a:p>
        </p:txBody>
      </p:sp>
      <p:cxnSp>
        <p:nvCxnSpPr>
          <p:cNvPr id="59401" name="AutoShape 8"/>
          <p:cNvCxnSpPr>
            <a:cxnSpLocks noChangeShapeType="1"/>
            <a:stCxn id="59398" idx="3"/>
            <a:endCxn id="59399" idx="0"/>
          </p:cNvCxnSpPr>
          <p:nvPr/>
        </p:nvCxnSpPr>
        <p:spPr bwMode="auto">
          <a:xfrm rot="5400000">
            <a:off x="3448050" y="4410075"/>
            <a:ext cx="457200" cy="11811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9402" name="AutoShape 9"/>
          <p:cNvCxnSpPr>
            <a:cxnSpLocks noChangeShapeType="1"/>
            <a:stCxn id="59398" idx="3"/>
            <a:endCxn id="59400" idx="0"/>
          </p:cNvCxnSpPr>
          <p:nvPr/>
        </p:nvCxnSpPr>
        <p:spPr bwMode="auto">
          <a:xfrm rot="16200000" flipH="1">
            <a:off x="4629150" y="4410075"/>
            <a:ext cx="457200" cy="11811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403" name="Text Box 10"/>
          <p:cNvSpPr txBox="1">
            <a:spLocks noChangeArrowheads="1"/>
          </p:cNvSpPr>
          <p:nvPr/>
        </p:nvSpPr>
        <p:spPr bwMode="auto">
          <a:xfrm>
            <a:off x="5486400" y="4343400"/>
            <a:ext cx="2590800" cy="555625"/>
          </a:xfrm>
          <a:prstGeom prst="rect">
            <a:avLst/>
          </a:prstGeom>
          <a:gradFill rotWithShape="0">
            <a:gsLst>
              <a:gs pos="0">
                <a:srgbClr val="E6F3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Vous pouvez créer des instances 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de classes concrètes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59404" name="Text Box 11"/>
          <p:cNvSpPr txBox="1">
            <a:spLocks noChangeArrowheads="1"/>
          </p:cNvSpPr>
          <p:nvPr/>
        </p:nvSpPr>
        <p:spPr bwMode="auto">
          <a:xfrm>
            <a:off x="5562600" y="3429000"/>
            <a:ext cx="2479675" cy="555625"/>
          </a:xfrm>
          <a:prstGeom prst="rect">
            <a:avLst/>
          </a:prstGeom>
          <a:gradFill rotWithShape="0">
            <a:gsLst>
              <a:gs pos="0">
                <a:srgbClr val="E6F3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Vous ne pouvez pas créer des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instances de classes abstraites</a:t>
            </a:r>
            <a:endParaRPr lang="en-GB" altLang="fr-FR" sz="1600"/>
          </a:p>
        </p:txBody>
      </p:sp>
    </p:spTree>
    <p:extLst>
      <p:ext uri="{BB962C8B-B14F-4D97-AF65-F5344CB8AC3E}">
        <p14:creationId xmlns:p14="http://schemas.microsoft.com/office/powerpoint/2010/main" val="3380770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4"/>
          <p:cNvSpPr>
            <a:spLocks noChangeArrowheads="1"/>
          </p:cNvSpPr>
          <p:nvPr/>
        </p:nvSpPr>
        <p:spPr bwMode="auto">
          <a:xfrm>
            <a:off x="860425" y="1112838"/>
            <a:ext cx="7378700" cy="5029200"/>
          </a:xfrm>
          <a:prstGeom prst="rect">
            <a:avLst/>
          </a:prstGeom>
          <a:gradFill rotWithShape="0">
            <a:gsLst>
              <a:gs pos="0">
                <a:srgbClr val="FCFEB9"/>
              </a:gs>
              <a:gs pos="100000">
                <a:srgbClr val="FFCC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fr-FR">
                <a:solidFill>
                  <a:srgbClr val="000000"/>
                </a:solidFill>
              </a:rPr>
              <a:t>Interfaces</a:t>
            </a:r>
            <a:endParaRPr lang="en-GB" altLang="fr-FR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0925" y="1676400"/>
            <a:ext cx="7194550" cy="4287838"/>
          </a:xfrm>
        </p:spPr>
        <p:txBody>
          <a:bodyPr/>
          <a:lstStyle/>
          <a:p>
            <a:r>
              <a:rPr lang="en-US" altLang="fr-FR" sz="2400" dirty="0">
                <a:solidFill>
                  <a:srgbClr val="000000"/>
                </a:solidFill>
              </a:rPr>
              <a:t>Les interfaces </a:t>
            </a:r>
            <a:r>
              <a:rPr lang="en-US" altLang="fr-FR" sz="2400" dirty="0" err="1">
                <a:solidFill>
                  <a:srgbClr val="000000"/>
                </a:solidFill>
              </a:rPr>
              <a:t>contiennent</a:t>
            </a:r>
            <a:r>
              <a:rPr lang="en-US" altLang="fr-FR" sz="2400" dirty="0">
                <a:solidFill>
                  <a:srgbClr val="000000"/>
                </a:solidFill>
              </a:rPr>
              <a:t> </a:t>
            </a:r>
            <a:r>
              <a:rPr lang="en-US" altLang="fr-FR" sz="2400" dirty="0" err="1">
                <a:solidFill>
                  <a:srgbClr val="000000"/>
                </a:solidFill>
              </a:rPr>
              <a:t>uniquement</a:t>
            </a:r>
            <a:r>
              <a:rPr lang="en-US" altLang="fr-FR" sz="2400" dirty="0">
                <a:solidFill>
                  <a:srgbClr val="000000"/>
                </a:solidFill>
              </a:rPr>
              <a:t> des </a:t>
            </a:r>
            <a:r>
              <a:rPr lang="en-US" altLang="fr-FR" sz="2400" dirty="0" err="1">
                <a:solidFill>
                  <a:srgbClr val="000000"/>
                </a:solidFill>
              </a:rPr>
              <a:t>opérations</a:t>
            </a:r>
            <a:r>
              <a:rPr lang="en-US" altLang="fr-FR" sz="2400" dirty="0">
                <a:solidFill>
                  <a:srgbClr val="000000"/>
                </a:solidFill>
              </a:rPr>
              <a:t>, pas </a:t>
            </a:r>
            <a:r>
              <a:rPr lang="en-US" altLang="fr-FR" sz="2400" dirty="0" err="1">
                <a:solidFill>
                  <a:srgbClr val="000000"/>
                </a:solidFill>
              </a:rPr>
              <a:t>d'implémentation</a:t>
            </a:r>
            <a:endParaRPr lang="en-GB" altLang="fr-FR" sz="2400" dirty="0"/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1524000" y="3810000"/>
            <a:ext cx="2362200" cy="9144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/>
              <a:t>Musicien à cordes</a:t>
            </a:r>
          </a:p>
          <a:p>
            <a:pPr algn="ctr"/>
            <a:r>
              <a:rPr lang="en-US" altLang="fr-FR" sz="1600"/>
              <a:t> { abstrait }</a:t>
            </a:r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1524000" y="5334000"/>
            <a:ext cx="23622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Violoniste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« concret »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61447" name="Rectangle 6"/>
          <p:cNvSpPr>
            <a:spLocks noChangeArrowheads="1"/>
          </p:cNvSpPr>
          <p:nvPr/>
        </p:nvSpPr>
        <p:spPr bwMode="auto">
          <a:xfrm>
            <a:off x="1524000" y="2514600"/>
            <a:ext cx="23622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Musicien</a:t>
            </a:r>
            <a:endParaRPr lang="en-GB" altLang="fr-FR" sz="1600"/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« interface »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61448" name="AutoShape 7"/>
          <p:cNvSpPr>
            <a:spLocks noChangeArrowheads="1"/>
          </p:cNvSpPr>
          <p:nvPr/>
        </p:nvSpPr>
        <p:spPr bwMode="auto">
          <a:xfrm>
            <a:off x="2514600" y="3200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61449" name="AutoShape 8"/>
          <p:cNvSpPr>
            <a:spLocks noChangeArrowheads="1"/>
          </p:cNvSpPr>
          <p:nvPr/>
        </p:nvSpPr>
        <p:spPr bwMode="auto">
          <a:xfrm>
            <a:off x="2514600" y="4724400"/>
            <a:ext cx="304800" cy="304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endParaRPr lang="fr-FR" altLang="fr-FR"/>
          </a:p>
        </p:txBody>
      </p:sp>
      <p:sp>
        <p:nvSpPr>
          <p:cNvPr id="61450" name="Line 9"/>
          <p:cNvSpPr>
            <a:spLocks noChangeShapeType="1"/>
          </p:cNvSpPr>
          <p:nvPr/>
        </p:nvSpPr>
        <p:spPr bwMode="auto">
          <a:xfrm>
            <a:off x="2667000" y="3505200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51" name="Line 10"/>
          <p:cNvSpPr>
            <a:spLocks noChangeShapeType="1"/>
          </p:cNvSpPr>
          <p:nvPr/>
        </p:nvSpPr>
        <p:spPr bwMode="auto">
          <a:xfrm>
            <a:off x="2667000" y="5029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452" name="Text Box 11"/>
          <p:cNvSpPr txBox="1">
            <a:spLocks noChangeArrowheads="1"/>
          </p:cNvSpPr>
          <p:nvPr/>
        </p:nvSpPr>
        <p:spPr bwMode="auto">
          <a:xfrm>
            <a:off x="4267200" y="2514600"/>
            <a:ext cx="3505200" cy="800100"/>
          </a:xfrm>
          <a:prstGeom prst="rect">
            <a:avLst/>
          </a:prstGeom>
          <a:gradFill rotWithShape="0">
            <a:gsLst>
              <a:gs pos="0">
                <a:srgbClr val="E6F3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Uniquement des opérations.</a:t>
            </a:r>
            <a:r>
              <a:rPr lang="en-GB" altLang="fr-FR" sz="1600"/>
              <a:t> </a:t>
            </a:r>
          </a:p>
          <a:p>
            <a:pPr algn="ctr"/>
            <a:r>
              <a:rPr lang="en-US" altLang="fr-FR" sz="1600">
                <a:solidFill>
                  <a:srgbClr val="000000"/>
                </a:solidFill>
              </a:rPr>
              <a:t>Vous ne pouvez pas créer d'instance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d'une interface.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61453" name="Text Box 12"/>
          <p:cNvSpPr txBox="1">
            <a:spLocks noChangeArrowheads="1"/>
          </p:cNvSpPr>
          <p:nvPr/>
        </p:nvSpPr>
        <p:spPr bwMode="auto">
          <a:xfrm>
            <a:off x="4267200" y="3810000"/>
            <a:ext cx="3505200" cy="800100"/>
          </a:xfrm>
          <a:prstGeom prst="rect">
            <a:avLst/>
          </a:prstGeom>
          <a:gradFill rotWithShape="0">
            <a:gsLst>
              <a:gs pos="0">
                <a:srgbClr val="E6F3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Peut contenir une implémentation.</a:t>
            </a:r>
            <a:r>
              <a:rPr lang="en-GB" altLang="fr-FR" sz="1600"/>
              <a:t> </a:t>
            </a:r>
            <a:br>
              <a:rPr lang="en-GB" altLang="fr-FR" sz="1600"/>
            </a:br>
            <a:r>
              <a:rPr lang="en-US" altLang="fr-FR" sz="1600">
                <a:solidFill>
                  <a:srgbClr val="000000"/>
                </a:solidFill>
              </a:rPr>
              <a:t>Vous ne pouvez pas créer d'instance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d'une classe abstraite</a:t>
            </a:r>
            <a:endParaRPr lang="en-GB" altLang="fr-FR" sz="1600">
              <a:solidFill>
                <a:srgbClr val="000000"/>
              </a:solidFill>
            </a:endParaRPr>
          </a:p>
        </p:txBody>
      </p:sp>
      <p:sp>
        <p:nvSpPr>
          <p:cNvPr id="61454" name="Text Box 13"/>
          <p:cNvSpPr txBox="1">
            <a:spLocks noChangeArrowheads="1"/>
          </p:cNvSpPr>
          <p:nvPr/>
        </p:nvSpPr>
        <p:spPr bwMode="auto">
          <a:xfrm>
            <a:off x="4267200" y="4876800"/>
            <a:ext cx="3505200" cy="1066800"/>
          </a:xfrm>
          <a:prstGeom prst="rect">
            <a:avLst/>
          </a:prstGeom>
          <a:gradFill rotWithShape="0">
            <a:gsLst>
              <a:gs pos="0">
                <a:srgbClr val="E6F3FF"/>
              </a:gs>
              <a:gs pos="100000">
                <a:srgbClr val="99CCFF"/>
              </a:gs>
            </a:gsLst>
            <a:lin ang="5400000" scaled="1"/>
          </a:gradFill>
          <a:ln w="9525" algn="ctr">
            <a:solidFill>
              <a:srgbClr val="0033CC"/>
            </a:solidFill>
            <a:miter lim="800000"/>
            <a:headEnd/>
            <a:tailEnd/>
          </a:ln>
          <a:effectLst>
            <a:outerShdw dist="53882" dir="2700000" algn="ctr" rotWithShape="0">
              <a:srgbClr val="C0C0C0"/>
            </a:outerShdw>
          </a:effectLst>
        </p:spPr>
        <p:txBody>
          <a:bodyPr wrap="none" tIns="27432" bIns="27432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/>
            <a:r>
              <a:rPr lang="en-US" altLang="fr-FR" sz="1600">
                <a:solidFill>
                  <a:srgbClr val="000000"/>
                </a:solidFill>
              </a:rPr>
              <a:t>Doit implémenter toutes les opérations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issues de l'héritage.</a:t>
            </a:r>
            <a:r>
              <a:rPr lang="en-GB" altLang="fr-FR" sz="1600"/>
              <a:t> </a:t>
            </a:r>
            <a:br>
              <a:rPr lang="en-GB" altLang="fr-FR" sz="1600"/>
            </a:br>
            <a:r>
              <a:rPr lang="en-US" altLang="fr-FR" sz="1600">
                <a:solidFill>
                  <a:srgbClr val="000000"/>
                </a:solidFill>
              </a:rPr>
              <a:t>Vous pouvez créer des instances </a:t>
            </a:r>
            <a:br>
              <a:rPr lang="en-US" altLang="fr-FR" sz="1600">
                <a:solidFill>
                  <a:srgbClr val="000000"/>
                </a:solidFill>
              </a:rPr>
            </a:br>
            <a:r>
              <a:rPr lang="en-US" altLang="fr-FR" sz="1600">
                <a:solidFill>
                  <a:srgbClr val="000000"/>
                </a:solidFill>
              </a:rPr>
              <a:t>d'une classe concrète.</a:t>
            </a:r>
            <a:endParaRPr lang="en-GB" altLang="fr-FR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06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Interfaces en Python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Python il </a:t>
            </a:r>
            <a:r>
              <a:rPr lang="fr-FR"/>
              <a:t>n’y a </a:t>
            </a:r>
            <a:r>
              <a:rPr lang="fr-FR" dirty="0"/>
              <a:t>pas de concept d’interface</a:t>
            </a:r>
          </a:p>
          <a:p>
            <a:pPr lvl="1"/>
            <a:r>
              <a:rPr lang="fr-FR" dirty="0"/>
              <a:t>Possibilité d’utiliser les Abstract Bases Classes</a:t>
            </a:r>
          </a:p>
          <a:p>
            <a:pPr lvl="1"/>
            <a:r>
              <a:rPr lang="fr-FR" dirty="0"/>
              <a:t>Ou bien coder une </a:t>
            </a:r>
            <a:r>
              <a:rPr lang="fr-FR" dirty="0" err="1"/>
              <a:t>meta</a:t>
            </a:r>
            <a:r>
              <a:rPr lang="fr-FR" dirty="0"/>
              <a:t>-classe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729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Module abc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Abstract Base Class (ABC)</a:t>
            </a:r>
          </a:p>
          <a:p>
            <a:r>
              <a:rPr lang="fr-FR" dirty="0"/>
              <a:t>Permet de palier les faiblesses objets de Python</a:t>
            </a:r>
          </a:p>
          <a:p>
            <a:r>
              <a:rPr lang="fr-FR" dirty="0"/>
              <a:t>Utilisation</a:t>
            </a:r>
          </a:p>
          <a:p>
            <a:pPr lvl="1"/>
            <a:r>
              <a:rPr lang="fr-FR" dirty="0"/>
              <a:t>Import abc</a:t>
            </a:r>
          </a:p>
          <a:p>
            <a:r>
              <a:rPr lang="fr-FR" dirty="0"/>
              <a:t>Création d’une classe abstraite</a:t>
            </a:r>
          </a:p>
          <a:p>
            <a:pPr lvl="1"/>
            <a:r>
              <a:rPr lang="fr-FR" dirty="0"/>
              <a:t>class </a:t>
            </a:r>
            <a:r>
              <a:rPr lang="fr-FR" dirty="0" err="1"/>
              <a:t>AbstractClass</a:t>
            </a:r>
            <a:r>
              <a:rPr lang="fr-FR" dirty="0"/>
              <a:t>(</a:t>
            </a:r>
            <a:r>
              <a:rPr lang="fr-FR" dirty="0" err="1"/>
              <a:t>metaclass</a:t>
            </a:r>
            <a:r>
              <a:rPr lang="fr-FR" dirty="0"/>
              <a:t>=</a:t>
            </a:r>
            <a:r>
              <a:rPr lang="fr-FR" dirty="0" err="1"/>
              <a:t>abc.ABCMeta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9225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Méthodes abstraites ABC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Décorateur </a:t>
            </a:r>
            <a:r>
              <a:rPr lang="fr-FR" dirty="0" err="1"/>
              <a:t>abc.abstractmethod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Marche avec </a:t>
            </a:r>
            <a:r>
              <a:rPr lang="fr-FR"/>
              <a:t>les propriétés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348880"/>
            <a:ext cx="5707245" cy="109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61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Redéfinition ABC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Rien à faire !</a:t>
            </a:r>
          </a:p>
          <a:p>
            <a:pPr lvl="1"/>
            <a:r>
              <a:rPr lang="fr-FR" dirty="0"/>
              <a:t>Comme Java</a:t>
            </a:r>
          </a:p>
          <a:p>
            <a:pPr lvl="1"/>
            <a:r>
              <a:rPr lang="fr-FR" dirty="0"/>
              <a:t>Toutes les méthodes et propriétés abstraites doivent être implémentés</a:t>
            </a:r>
          </a:p>
          <a:p>
            <a:pPr lvl="2"/>
            <a:r>
              <a:rPr lang="fr-FR" dirty="0"/>
              <a:t>Sinon erreur lors de l’instanciation</a:t>
            </a:r>
          </a:p>
          <a:p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3284984"/>
            <a:ext cx="3308576" cy="289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44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3 dots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signifier qu’une méthode ne possède pas de code</a:t>
            </a:r>
          </a:p>
          <a:p>
            <a:pPr lvl="1"/>
            <a:r>
              <a:rPr lang="fr-FR" dirty="0"/>
              <a:t>Réservé aux méthodes abstraites</a:t>
            </a:r>
          </a:p>
          <a:p>
            <a:pPr lvl="1"/>
            <a:r>
              <a:rPr lang="fr-FR" dirty="0"/>
              <a:t>Remplace </a:t>
            </a:r>
            <a:r>
              <a:rPr lang="fr-FR" dirty="0" err="1"/>
              <a:t>pass</a:t>
            </a:r>
            <a:endParaRPr lang="fr-FR" dirty="0"/>
          </a:p>
          <a:p>
            <a:r>
              <a:rPr lang="fr-FR" dirty="0"/>
              <a:t>@</a:t>
            </a:r>
            <a:r>
              <a:rPr lang="fr-FR" dirty="0" err="1"/>
              <a:t>abc.abstractmethod</a:t>
            </a:r>
            <a:endParaRPr lang="fr-FR" dirty="0"/>
          </a:p>
          <a:p>
            <a:r>
              <a:rPr lang="fr-FR" dirty="0" err="1"/>
              <a:t>def</a:t>
            </a:r>
            <a:r>
              <a:rPr lang="fr-FR" dirty="0"/>
              <a:t> </a:t>
            </a:r>
            <a:r>
              <a:rPr lang="fr-FR" dirty="0" err="1"/>
              <a:t>my_method</a:t>
            </a:r>
            <a:r>
              <a:rPr lang="fr-FR" dirty="0"/>
              <a:t>(</a:t>
            </a:r>
            <a:r>
              <a:rPr lang="fr-FR" dirty="0" err="1"/>
              <a:t>param</a:t>
            </a:r>
            <a:r>
              <a:rPr lang="fr-FR" dirty="0"/>
              <a:t>): … </a:t>
            </a:r>
          </a:p>
        </p:txBody>
      </p:sp>
    </p:spTree>
    <p:extLst>
      <p:ext uri="{BB962C8B-B14F-4D97-AF65-F5344CB8AC3E}">
        <p14:creationId xmlns:p14="http://schemas.microsoft.com/office/powerpoint/2010/main" val="2642778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ABC DEF …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ABC ne fournit pas de notion d’interface</a:t>
            </a:r>
          </a:p>
          <a:p>
            <a:pPr lvl="1"/>
            <a:r>
              <a:rPr lang="fr-FR" dirty="0"/>
              <a:t>Inutile grâce à l’héritage multiple</a:t>
            </a:r>
          </a:p>
          <a:p>
            <a:pPr lvl="1"/>
            <a:r>
              <a:rPr lang="fr-FR" dirty="0"/>
              <a:t>Une interface est une classe abstraite où tout est abstrait</a:t>
            </a:r>
          </a:p>
        </p:txBody>
      </p:sp>
    </p:spTree>
    <p:extLst>
      <p:ext uri="{BB962C8B-B14F-4D97-AF65-F5344CB8AC3E}">
        <p14:creationId xmlns:p14="http://schemas.microsoft.com/office/powerpoint/2010/main" val="31983000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5042</TotalTime>
  <Words>346</Words>
  <Application>Microsoft Office PowerPoint</Application>
  <PresentationFormat>Affichage à l'écran (4:3)</PresentationFormat>
  <Paragraphs>75</Paragraphs>
  <Slides>11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Arial Narrow</vt:lpstr>
      <vt:lpstr>Monotype Sorts</vt:lpstr>
      <vt:lpstr>Times New Roman</vt:lpstr>
      <vt:lpstr>cvc</vt:lpstr>
      <vt:lpstr>Présentation PowerPoint</vt:lpstr>
      <vt:lpstr>Polymorphisme</vt:lpstr>
      <vt:lpstr>Le polymorphisme en Python</vt:lpstr>
      <vt:lpstr>Classes de base abstraites</vt:lpstr>
      <vt:lpstr>Interfaces</vt:lpstr>
      <vt:lpstr>Interfaces en Python</vt:lpstr>
      <vt:lpstr>Module abc</vt:lpstr>
      <vt:lpstr>Méthodes abstraites ABC</vt:lpstr>
      <vt:lpstr>Redéfinition ABC</vt:lpstr>
      <vt:lpstr>3 dots</vt:lpstr>
      <vt:lpstr>ABC DEF …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FP_Prof01</cp:lastModifiedBy>
  <cp:revision>283</cp:revision>
  <dcterms:created xsi:type="dcterms:W3CDTF">2000-04-10T19:33:12Z</dcterms:created>
  <dcterms:modified xsi:type="dcterms:W3CDTF">2026-10-21T14:02:39Z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