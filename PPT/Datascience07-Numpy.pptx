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20"/>
  </p:notesMasterIdLst>
  <p:handoutMasterIdLst>
    <p:handoutMasterId r:id="rId21"/>
  </p:handoutMasterIdLst>
  <p:sldIdLst>
    <p:sldId id="264" r:id="rId2"/>
    <p:sldId id="265" r:id="rId3"/>
    <p:sldId id="266" r:id="rId4"/>
    <p:sldId id="291" r:id="rId5"/>
    <p:sldId id="285" r:id="rId6"/>
    <p:sldId id="297" r:id="rId7"/>
    <p:sldId id="286" r:id="rId8"/>
    <p:sldId id="300" r:id="rId9"/>
    <p:sldId id="274" r:id="rId10"/>
    <p:sldId id="301" r:id="rId11"/>
    <p:sldId id="302" r:id="rId12"/>
    <p:sldId id="284" r:id="rId13"/>
    <p:sldId id="290" r:id="rId14"/>
    <p:sldId id="287" r:id="rId15"/>
    <p:sldId id="288" r:id="rId16"/>
    <p:sldId id="289" r:id="rId17"/>
    <p:sldId id="283" r:id="rId18"/>
    <p:sldId id="303" r:id="rId19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Numpy</a:t>
            </a:r>
            <a:endParaRPr lang="fr-FR" altLang="fr-FR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5023445"/>
            <a:ext cx="6715125" cy="1285875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1902037" y="2132856"/>
            <a:ext cx="533992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600" dirty="0"/>
              <a:t>Python</a:t>
            </a:r>
          </a:p>
          <a:p>
            <a:pPr algn="ctr"/>
            <a:r>
              <a:rPr lang="fr-FR" sz="3600" dirty="0"/>
              <a:t>pour le calcul scientifique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Python et les Maths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Python a rencontré un grand succès dans le monde scientifique, mathématiques et de l’IA</a:t>
            </a:r>
          </a:p>
          <a:p>
            <a:r>
              <a:rPr lang="fr-FR" dirty="0"/>
              <a:t>De nombreux modules sont à disposition</a:t>
            </a:r>
          </a:p>
          <a:p>
            <a:pPr lvl="1"/>
            <a:r>
              <a:rPr lang="fr-FR" dirty="0" err="1"/>
              <a:t>Numpy</a:t>
            </a:r>
            <a:r>
              <a:rPr lang="fr-FR" dirty="0"/>
              <a:t>, </a:t>
            </a:r>
            <a:r>
              <a:rPr lang="fr-FR" dirty="0" err="1"/>
              <a:t>Scipy</a:t>
            </a:r>
            <a:r>
              <a:rPr lang="fr-FR" dirty="0"/>
              <a:t>, </a:t>
            </a:r>
            <a:r>
              <a:rPr lang="fr-FR" dirty="0" err="1"/>
              <a:t>Scikit-learn</a:t>
            </a:r>
            <a:r>
              <a:rPr lang="fr-FR" dirty="0"/>
              <a:t>, …</a:t>
            </a:r>
          </a:p>
          <a:p>
            <a:r>
              <a:rPr lang="fr-FR" dirty="0"/>
              <a:t>Le module math possède les méthodes de base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3861048"/>
            <a:ext cx="4968552" cy="1962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605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NumPy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un module </a:t>
            </a:r>
            <a:r>
              <a:rPr lang="en-US" dirty="0" err="1"/>
              <a:t>scientifique</a:t>
            </a:r>
            <a:r>
              <a:rPr lang="en-US" dirty="0"/>
              <a:t> </a:t>
            </a:r>
            <a:r>
              <a:rPr lang="en-US" dirty="0" err="1"/>
              <a:t>d’algèbre</a:t>
            </a:r>
            <a:r>
              <a:rPr lang="en-US" dirty="0"/>
              <a:t> </a:t>
            </a:r>
            <a:r>
              <a:rPr lang="en-US" dirty="0" err="1"/>
              <a:t>linéaire</a:t>
            </a:r>
            <a:endParaRPr lang="en-US" dirty="0"/>
          </a:p>
          <a:p>
            <a:pPr lvl="1"/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pPr lvl="1"/>
            <a:r>
              <a:rPr lang="en-US" dirty="0"/>
              <a:t>PIP install </a:t>
            </a:r>
            <a:r>
              <a:rPr lang="en-US" dirty="0" err="1"/>
              <a:t>numpy</a:t>
            </a:r>
            <a:endParaRPr lang="en-US" dirty="0"/>
          </a:p>
          <a:p>
            <a:pPr lvl="1"/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920" y="384380"/>
            <a:ext cx="1790700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638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97222-89A6-498E-A428-31CBD5343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156A5-7BDF-4157-8103-16AE00F46C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/>
              <a:t>Liste</a:t>
            </a:r>
            <a:r>
              <a:rPr lang="en-US" sz="1800" dirty="0"/>
              <a:t> de </a:t>
            </a:r>
            <a:r>
              <a:rPr lang="en-US" sz="1800" dirty="0" err="1"/>
              <a:t>nombres</a:t>
            </a:r>
            <a:endParaRPr lang="en-US" sz="1800" dirty="0"/>
          </a:p>
          <a:p>
            <a:r>
              <a:rPr lang="en-US" b="1" dirty="0"/>
              <a:t>Vectors </a:t>
            </a:r>
          </a:p>
          <a:p>
            <a:r>
              <a:rPr lang="en-US" b="1" dirty="0"/>
              <a:t>Matrices</a:t>
            </a:r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7C20A6C-444A-4107-8DD7-8F9162F28534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7C20A6C-444A-4107-8DD7-8F9162F285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0338AB-1186-4DFC-8E5B-AE743C47848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>
            <a:normAutofit fontScale="25000" lnSpcReduction="20000"/>
          </a:bodyPr>
          <a:lstStyle/>
          <a:p>
            <a:fld id="{4FAB73BC-B049-4115-A692-8D63A059BFB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931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np.array</a:t>
            </a:r>
            <a:endParaRPr lang="en-US" dirty="0"/>
          </a:p>
          <a:p>
            <a:pPr lvl="1"/>
            <a:r>
              <a:rPr lang="fr-FR" dirty="0"/>
              <a:t>Contrairement aux listes en Python, les tableaux </a:t>
            </a:r>
            <a:r>
              <a:rPr lang="fr-FR" dirty="0" err="1"/>
              <a:t>Numpy</a:t>
            </a:r>
            <a:r>
              <a:rPr lang="fr-FR" dirty="0"/>
              <a:t> ne peuvent contenir des membres que d'un seul type</a:t>
            </a:r>
          </a:p>
          <a:p>
            <a:pPr lvl="1"/>
            <a:r>
              <a:rPr lang="fr-FR" dirty="0"/>
              <a:t>Le type est soit explicite ou implicite</a:t>
            </a:r>
          </a:p>
          <a:p>
            <a:r>
              <a:rPr lang="fr-FR" dirty="0"/>
              <a:t>Exemples :</a:t>
            </a:r>
          </a:p>
          <a:p>
            <a:pPr lvl="1"/>
            <a:r>
              <a:rPr lang="en-US" dirty="0" err="1"/>
              <a:t>np.array</a:t>
            </a:r>
            <a:r>
              <a:rPr lang="en-US" dirty="0"/>
              <a:t>([1, 4, 2, 5, 3]) #</a:t>
            </a:r>
            <a:r>
              <a:rPr lang="en-US" dirty="0" err="1"/>
              <a:t>int</a:t>
            </a:r>
            <a:endParaRPr lang="en-US" dirty="0"/>
          </a:p>
          <a:p>
            <a:pPr lvl="1"/>
            <a:r>
              <a:rPr lang="en-US" dirty="0" err="1"/>
              <a:t>np.array</a:t>
            </a:r>
            <a:r>
              <a:rPr lang="en-US" dirty="0"/>
              <a:t>([3.14, 4., 2, 3]) #float</a:t>
            </a:r>
          </a:p>
          <a:p>
            <a:pPr lvl="1"/>
            <a:r>
              <a:rPr lang="fr-FR" dirty="0" err="1"/>
              <a:t>np.zeros</a:t>
            </a:r>
            <a:r>
              <a:rPr lang="fr-FR" dirty="0"/>
              <a:t>(10, </a:t>
            </a:r>
            <a:r>
              <a:rPr lang="fr-FR" dirty="0" err="1"/>
              <a:t>dtype</a:t>
            </a:r>
            <a:r>
              <a:rPr lang="fr-FR" dirty="0"/>
              <a:t>=</a:t>
            </a:r>
            <a:r>
              <a:rPr lang="fr-FR" dirty="0" err="1"/>
              <a:t>int</a:t>
            </a:r>
            <a:r>
              <a:rPr lang="fr-FR" dirty="0"/>
              <a:t>) #10*0</a:t>
            </a:r>
          </a:p>
          <a:p>
            <a:pPr lvl="1"/>
            <a:r>
              <a:rPr lang="fr-FR" dirty="0" err="1"/>
              <a:t>np.ones</a:t>
            </a:r>
            <a:r>
              <a:rPr lang="fr-FR" dirty="0"/>
              <a:t>(3, </a:t>
            </a:r>
            <a:r>
              <a:rPr lang="fr-FR" dirty="0" err="1"/>
              <a:t>dtype</a:t>
            </a:r>
            <a:r>
              <a:rPr lang="fr-FR" dirty="0"/>
              <a:t>=</a:t>
            </a:r>
            <a:r>
              <a:rPr lang="fr-FR" dirty="0" err="1"/>
              <a:t>float</a:t>
            </a:r>
            <a:r>
              <a:rPr lang="fr-FR" dirty="0"/>
              <a:t>) #3*1.0</a:t>
            </a:r>
          </a:p>
          <a:p>
            <a:pPr lvl="1"/>
            <a:r>
              <a:rPr lang="fr-FR" dirty="0" err="1"/>
              <a:t>np.full</a:t>
            </a:r>
            <a:r>
              <a:rPr lang="fr-FR" dirty="0"/>
              <a:t>(3, 3.14) #3*3.14</a:t>
            </a:r>
            <a:endParaRPr lang="en-US" dirty="0"/>
          </a:p>
          <a:p>
            <a:pPr lvl="1"/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920" y="384380"/>
            <a:ext cx="1790700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94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3A89D-B04F-4FF7-B864-B3F9BBFBE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Arrays,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060F4-F2F0-4A93-BA3A-8F21AA583A8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np.ones</a:t>
            </a:r>
            <a:r>
              <a:rPr lang="en-US" dirty="0"/>
              <a:t>, </a:t>
            </a:r>
            <a:r>
              <a:rPr lang="en-US" dirty="0" err="1"/>
              <a:t>np.zeros</a:t>
            </a:r>
            <a:endParaRPr lang="en-US" dirty="0"/>
          </a:p>
          <a:p>
            <a:r>
              <a:rPr lang="en-US" dirty="0" err="1"/>
              <a:t>np.arange</a:t>
            </a:r>
            <a:endParaRPr lang="en-US" dirty="0"/>
          </a:p>
          <a:p>
            <a:r>
              <a:rPr lang="en-US" dirty="0" err="1"/>
              <a:t>np.concatenate</a:t>
            </a:r>
            <a:endParaRPr lang="en-US" dirty="0"/>
          </a:p>
          <a:p>
            <a:r>
              <a:rPr lang="en-US" b="1" dirty="0" err="1"/>
              <a:t>np.astype</a:t>
            </a:r>
            <a:endParaRPr lang="en-US" b="1" dirty="0"/>
          </a:p>
          <a:p>
            <a:r>
              <a:rPr lang="en-US" dirty="0" err="1"/>
              <a:t>np.zeros_like</a:t>
            </a:r>
            <a:r>
              <a:rPr lang="en-US" dirty="0"/>
              <a:t>, </a:t>
            </a:r>
            <a:r>
              <a:rPr lang="en-US" dirty="0" err="1"/>
              <a:t>np.ones_like</a:t>
            </a:r>
            <a:endParaRPr lang="en-US" dirty="0"/>
          </a:p>
          <a:p>
            <a:r>
              <a:rPr lang="en-US" dirty="0" err="1"/>
              <a:t>np.random.random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7AC6CB-0FAC-4ADE-B712-3462E3A60CA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>
            <a:normAutofit fontScale="25000" lnSpcReduction="20000"/>
          </a:bodyPr>
          <a:lstStyle/>
          <a:p>
            <a:fld id="{4FAB73BC-B049-4115-A692-8D63A059BFB8}" type="slidenum">
              <a:rPr lang="en-US" smtClean="0"/>
              <a:t>6</a:t>
            </a:fld>
            <a:endParaRPr lang="en-US" dirty="0"/>
          </a:p>
        </p:txBody>
      </p:sp>
      <p:pic>
        <p:nvPicPr>
          <p:cNvPr id="2050" name="Picture 2" descr="https://i.gyazo.com/6527c907bff1be4a73405f09257b094b.png">
            <a:extLst>
              <a:ext uri="{FF2B5EF4-FFF2-40B4-BE49-F238E27FC236}">
                <a16:creationId xmlns:a16="http://schemas.microsoft.com/office/drawing/2014/main" id="{BA877FBE-9E6A-4052-86D7-C87E7A20F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2492896"/>
            <a:ext cx="4886252" cy="2417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6741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arange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# Un tableau rempli d'une séquence linéaire</a:t>
            </a:r>
          </a:p>
          <a:p>
            <a:r>
              <a:rPr lang="fr-FR" dirty="0"/>
              <a:t># commençant à 0 et qui se termine à 20, avec un pas de 2</a:t>
            </a:r>
          </a:p>
          <a:p>
            <a:r>
              <a:rPr lang="fr-FR" dirty="0" err="1"/>
              <a:t>np.arange</a:t>
            </a:r>
            <a:r>
              <a:rPr lang="fr-FR" dirty="0"/>
              <a:t>(0, 20, 2)</a:t>
            </a:r>
          </a:p>
          <a:p>
            <a:r>
              <a:rPr lang="fr-FR" dirty="0"/>
              <a:t># Un tableau de 5 valeurs, espacées uniformément entre 0 et 1</a:t>
            </a:r>
          </a:p>
          <a:p>
            <a:r>
              <a:rPr lang="fr-FR" dirty="0" err="1"/>
              <a:t>np.linspace</a:t>
            </a:r>
            <a:r>
              <a:rPr lang="fr-FR" dirty="0"/>
              <a:t>(0, 1, 5)</a:t>
            </a:r>
          </a:p>
        </p:txBody>
      </p:sp>
    </p:spTree>
    <p:extLst>
      <p:ext uri="{BB962C8B-B14F-4D97-AF65-F5344CB8AC3E}">
        <p14:creationId xmlns:p14="http://schemas.microsoft.com/office/powerpoint/2010/main" val="3214626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3A89D-B04F-4FF7-B864-B3F9BBFBE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Arrays,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060F4-F2F0-4A93-BA3A-8F21AA583A8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np.ones</a:t>
            </a:r>
            <a:r>
              <a:rPr lang="en-US" dirty="0"/>
              <a:t>, </a:t>
            </a:r>
            <a:r>
              <a:rPr lang="en-US" dirty="0" err="1"/>
              <a:t>np.zeros</a:t>
            </a:r>
            <a:endParaRPr lang="en-US" dirty="0"/>
          </a:p>
          <a:p>
            <a:r>
              <a:rPr lang="en-US" b="1" dirty="0" err="1"/>
              <a:t>np.arange</a:t>
            </a:r>
            <a:endParaRPr lang="en-US" b="1" dirty="0"/>
          </a:p>
          <a:p>
            <a:r>
              <a:rPr lang="en-US" dirty="0" err="1"/>
              <a:t>np.concatenate</a:t>
            </a:r>
            <a:endParaRPr lang="en-US" dirty="0"/>
          </a:p>
          <a:p>
            <a:r>
              <a:rPr lang="en-US" dirty="0" err="1"/>
              <a:t>np.astype</a:t>
            </a:r>
            <a:endParaRPr lang="en-US" dirty="0"/>
          </a:p>
          <a:p>
            <a:r>
              <a:rPr lang="en-US" dirty="0" err="1"/>
              <a:t>np.zeros_like</a:t>
            </a:r>
            <a:r>
              <a:rPr lang="en-US" dirty="0"/>
              <a:t>, </a:t>
            </a:r>
            <a:r>
              <a:rPr lang="en-US" dirty="0" err="1"/>
              <a:t>np.ones_like</a:t>
            </a:r>
            <a:endParaRPr lang="en-US" dirty="0"/>
          </a:p>
          <a:p>
            <a:r>
              <a:rPr lang="en-US" dirty="0" err="1"/>
              <a:t>np.random.random</a:t>
            </a:r>
            <a:endParaRPr lang="en-US" dirty="0"/>
          </a:p>
        </p:txBody>
      </p:sp>
      <p:pic>
        <p:nvPicPr>
          <p:cNvPr id="3076" name="Picture 4" descr="https://i.gyazo.com/8001a5fae4b908ca4cdec3a018885ba7.png">
            <a:extLst>
              <a:ext uri="{FF2B5EF4-FFF2-40B4-BE49-F238E27FC236}">
                <a16:creationId xmlns:a16="http://schemas.microsoft.com/office/drawing/2014/main" id="{F932B43B-F42C-4E3D-8306-84FD7EA80D0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1748" y="3573016"/>
            <a:ext cx="4858985" cy="719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EFB67-0BB7-4EE7-8621-91042C11282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>
            <a:normAutofit fontScale="25000" lnSpcReduction="20000"/>
          </a:bodyPr>
          <a:lstStyle/>
          <a:p>
            <a:fld id="{4FAB73BC-B049-4115-A692-8D63A059BFB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031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Random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156209"/>
            <a:ext cx="7466207" cy="374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605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3A89D-B04F-4FF7-B864-B3F9BBFBE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Arrays,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060F4-F2F0-4A93-BA3A-8F21AA583A8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np.ones</a:t>
            </a:r>
            <a:r>
              <a:rPr lang="en-US" dirty="0"/>
              <a:t>, </a:t>
            </a:r>
            <a:r>
              <a:rPr lang="en-US" dirty="0" err="1"/>
              <a:t>np.zeros</a:t>
            </a:r>
            <a:endParaRPr lang="en-US" dirty="0"/>
          </a:p>
          <a:p>
            <a:r>
              <a:rPr lang="en-US" dirty="0" err="1"/>
              <a:t>np.arange</a:t>
            </a:r>
            <a:endParaRPr lang="en-US" dirty="0"/>
          </a:p>
          <a:p>
            <a:r>
              <a:rPr lang="en-US" dirty="0" err="1"/>
              <a:t>np.concatenate</a:t>
            </a:r>
            <a:endParaRPr lang="en-US" dirty="0"/>
          </a:p>
          <a:p>
            <a:r>
              <a:rPr lang="en-US" dirty="0" err="1"/>
              <a:t>np.astype</a:t>
            </a:r>
            <a:endParaRPr lang="en-US" dirty="0"/>
          </a:p>
          <a:p>
            <a:r>
              <a:rPr lang="en-US" dirty="0" err="1"/>
              <a:t>np.zeros_like</a:t>
            </a:r>
            <a:r>
              <a:rPr lang="en-US" dirty="0"/>
              <a:t>, </a:t>
            </a:r>
            <a:r>
              <a:rPr lang="en-US" dirty="0" err="1"/>
              <a:t>np.ones_like</a:t>
            </a:r>
            <a:endParaRPr lang="en-US" dirty="0"/>
          </a:p>
          <a:p>
            <a:r>
              <a:rPr lang="en-US" b="1" dirty="0" err="1"/>
              <a:t>np.random.random</a:t>
            </a:r>
            <a:endParaRPr lang="en-US" b="1" dirty="0"/>
          </a:p>
        </p:txBody>
      </p:sp>
      <p:pic>
        <p:nvPicPr>
          <p:cNvPr id="8194" name="Picture 2" descr="https://i.gyazo.com/c715415aae0a9590255726d83b03969a.png">
            <a:extLst>
              <a:ext uri="{FF2B5EF4-FFF2-40B4-BE49-F238E27FC236}">
                <a16:creationId xmlns:a16="http://schemas.microsoft.com/office/drawing/2014/main" id="{E541AB38-BA22-4FA5-A14B-75D61FBEE53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5859" y="2636912"/>
            <a:ext cx="4664466" cy="2263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E0011-A2F1-46FC-8A46-2806DDD622B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>
            <a:normAutofit fontScale="25000" lnSpcReduction="20000"/>
          </a:bodyPr>
          <a:lstStyle/>
          <a:p>
            <a:fld id="{4FAB73BC-B049-4115-A692-8D63A059BFB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942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CB4D8-D0E9-4BCD-821D-6B7E427A5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Arrays, danger zone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1BCB1-4995-473A-9BA8-A513993C1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Pas de </a:t>
            </a:r>
            <a:r>
              <a:rPr lang="en-US" dirty="0" err="1"/>
              <a:t>trou</a:t>
            </a:r>
            <a:endParaRPr lang="en-US" dirty="0"/>
          </a:p>
          <a:p>
            <a:r>
              <a:rPr lang="en-US" dirty="0"/>
              <a:t>Un </a:t>
            </a:r>
            <a:r>
              <a:rPr lang="en-US" dirty="0" err="1"/>
              <a:t>seul</a:t>
            </a:r>
            <a:r>
              <a:rPr lang="en-US" dirty="0"/>
              <a:t> type</a:t>
            </a:r>
          </a:p>
          <a:p>
            <a:r>
              <a:rPr lang="en-US" dirty="0" err="1"/>
              <a:t>Même</a:t>
            </a:r>
            <a:r>
              <a:rPr lang="en-US" dirty="0"/>
              <a:t> dimension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067E19-A685-470A-A7D5-A748A949B1E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>
            <a:normAutofit fontScale="25000" lnSpcReduction="20000"/>
          </a:bodyPr>
          <a:lstStyle/>
          <a:p>
            <a:fld id="{4FAB73BC-B049-4115-A692-8D63A059BFB8}" type="slidenum">
              <a:rPr lang="en-US" smtClean="0"/>
              <a:t>11</a:t>
            </a:fld>
            <a:endParaRPr lang="en-US" dirty="0"/>
          </a:p>
        </p:txBody>
      </p:sp>
      <p:pic>
        <p:nvPicPr>
          <p:cNvPr id="4098" name="Picture 2" descr="https://i.gyazo.com/88b3935384eb021e466d9c9af6990c6c.png">
            <a:extLst>
              <a:ext uri="{FF2B5EF4-FFF2-40B4-BE49-F238E27FC236}">
                <a16:creationId xmlns:a16="http://schemas.microsoft.com/office/drawing/2014/main" id="{4575468C-C5EF-4F5C-9560-CBA90458A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099" y="3992992"/>
            <a:ext cx="6307931" cy="1307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3651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opérateurs </a:t>
            </a:r>
            <a:r>
              <a:rPr lang="fr-FR" dirty="0" err="1"/>
              <a:t>numpy</a:t>
            </a:r>
            <a:r>
              <a:rPr lang="fr-FR" dirty="0"/>
              <a:t> sont surchargés</a:t>
            </a:r>
          </a:p>
          <a:p>
            <a:r>
              <a:rPr lang="fr-FR" dirty="0"/>
              <a:t>Les fonctions </a:t>
            </a:r>
            <a:r>
              <a:rPr lang="fr-FR" dirty="0" err="1"/>
              <a:t>numpy</a:t>
            </a:r>
            <a:r>
              <a:rPr lang="fr-FR" dirty="0"/>
              <a:t> sont des </a:t>
            </a:r>
            <a:r>
              <a:rPr lang="fr-FR" dirty="0" err="1"/>
              <a:t>map</a:t>
            </a:r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736" y="2708920"/>
            <a:ext cx="4886116" cy="2987303"/>
          </a:xfrm>
          <a:prstGeom prst="rect">
            <a:avLst/>
          </a:prstGeom>
        </p:spPr>
      </p:pic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/>
          <a:p>
            <a:r>
              <a:rPr lang="fr-FR" dirty="0"/>
              <a:t>Opérateurs et fonctions</a:t>
            </a:r>
          </a:p>
        </p:txBody>
      </p:sp>
    </p:spTree>
    <p:extLst>
      <p:ext uri="{BB962C8B-B14F-4D97-AF65-F5344CB8AC3E}">
        <p14:creationId xmlns:p14="http://schemas.microsoft.com/office/powerpoint/2010/main" val="24370512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Réduction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/>
              <a:t>Les fonctions </a:t>
            </a:r>
            <a:r>
              <a:rPr lang="fr-FR" dirty="0"/>
              <a:t>de réduction de base existent</a:t>
            </a:r>
          </a:p>
          <a:p>
            <a:pPr lvl="1"/>
            <a:r>
              <a:rPr lang="fr-FR" dirty="0" err="1"/>
              <a:t>Sum</a:t>
            </a:r>
            <a:endParaRPr lang="fr-FR" dirty="0"/>
          </a:p>
          <a:p>
            <a:pPr lvl="1"/>
            <a:r>
              <a:rPr lang="fr-FR" dirty="0"/>
              <a:t>Max</a:t>
            </a:r>
          </a:p>
          <a:p>
            <a:pPr lvl="1"/>
            <a:r>
              <a:rPr lang="fr-FR" dirty="0"/>
              <a:t>Min</a:t>
            </a:r>
          </a:p>
          <a:p>
            <a:pPr lvl="1"/>
            <a:r>
              <a:rPr lang="fr-FR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0882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Propriétés des tableaux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np.random.seed</a:t>
            </a:r>
            <a:r>
              <a:rPr lang="fr-FR" dirty="0"/>
              <a:t>(0)</a:t>
            </a:r>
          </a:p>
          <a:p>
            <a:r>
              <a:rPr lang="fr-FR" dirty="0"/>
              <a:t>x1 = </a:t>
            </a:r>
            <a:r>
              <a:rPr lang="fr-FR" dirty="0" err="1"/>
              <a:t>np.random.randint</a:t>
            </a:r>
            <a:r>
              <a:rPr lang="fr-FR" dirty="0"/>
              <a:t>(10, size=6)</a:t>
            </a:r>
          </a:p>
          <a:p>
            <a:r>
              <a:rPr lang="fr-FR" dirty="0" err="1"/>
              <a:t>print</a:t>
            </a:r>
            <a:r>
              <a:rPr lang="fr-FR" dirty="0"/>
              <a:t>("nombre de dimensions de x1: ", x1.ndim)</a:t>
            </a:r>
          </a:p>
          <a:p>
            <a:r>
              <a:rPr lang="fr-FR" dirty="0" err="1"/>
              <a:t>print</a:t>
            </a:r>
            <a:r>
              <a:rPr lang="fr-FR" dirty="0"/>
              <a:t>("forme de x1: ", x1.shape)</a:t>
            </a:r>
          </a:p>
          <a:p>
            <a:r>
              <a:rPr lang="fr-FR" dirty="0" err="1"/>
              <a:t>print</a:t>
            </a:r>
            <a:r>
              <a:rPr lang="fr-FR" dirty="0"/>
              <a:t>("taille de x1: ", x1.size)</a:t>
            </a:r>
          </a:p>
          <a:p>
            <a:r>
              <a:rPr lang="fr-FR" dirty="0" err="1"/>
              <a:t>print</a:t>
            </a:r>
            <a:r>
              <a:rPr lang="fr-FR" dirty="0"/>
              <a:t>("type de x1: ", x1.dtype)</a:t>
            </a:r>
          </a:p>
        </p:txBody>
      </p:sp>
    </p:spTree>
    <p:extLst>
      <p:ext uri="{BB962C8B-B14F-4D97-AF65-F5344CB8AC3E}">
        <p14:creationId xmlns:p14="http://schemas.microsoft.com/office/powerpoint/2010/main" val="20200218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Indexation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Identique à Python</a:t>
            </a:r>
          </a:p>
          <a:p>
            <a:pPr lvl="1"/>
            <a:r>
              <a:rPr lang="fr-FR" dirty="0" err="1"/>
              <a:t>print</a:t>
            </a:r>
            <a:r>
              <a:rPr lang="fr-FR" dirty="0"/>
              <a:t>(x1[0])</a:t>
            </a:r>
          </a:p>
          <a:p>
            <a:pPr lvl="1"/>
            <a:r>
              <a:rPr lang="fr-FR" dirty="0" err="1"/>
              <a:t>print</a:t>
            </a:r>
            <a:r>
              <a:rPr lang="fr-FR" dirty="0"/>
              <a:t>(x1[-1])</a:t>
            </a:r>
          </a:p>
          <a:p>
            <a:pPr lvl="1"/>
            <a:r>
              <a:rPr lang="fr-FR" dirty="0"/>
              <a:t>x1[1] = 1000</a:t>
            </a:r>
          </a:p>
          <a:p>
            <a:pPr lvl="1"/>
            <a:r>
              <a:rPr lang="fr-FR" dirty="0" err="1"/>
              <a:t>print</a:t>
            </a:r>
            <a:r>
              <a:rPr lang="fr-FR" dirty="0"/>
              <a:t>(x1[2:5]) # De 2 à 5 non inclus</a:t>
            </a:r>
          </a:p>
          <a:p>
            <a:pPr lvl="1"/>
            <a:r>
              <a:rPr lang="fr-FR" dirty="0" err="1"/>
              <a:t>print</a:t>
            </a:r>
            <a:r>
              <a:rPr lang="fr-FR" dirty="0"/>
              <a:t>(x1[:5])  # Les cinq premiers éléments</a:t>
            </a:r>
          </a:p>
          <a:p>
            <a:pPr lvl="1"/>
            <a:r>
              <a:rPr lang="fr-FR" dirty="0" err="1"/>
              <a:t>print</a:t>
            </a:r>
            <a:r>
              <a:rPr lang="fr-FR" dirty="0"/>
              <a:t>(x1[5:])  # Les éléments à partir de l'index 5</a:t>
            </a:r>
          </a:p>
          <a:p>
            <a:pPr lvl="1"/>
            <a:r>
              <a:rPr lang="fr-FR" dirty="0" err="1"/>
              <a:t>print</a:t>
            </a:r>
            <a:r>
              <a:rPr lang="fr-FR" dirty="0"/>
              <a:t>(x1[::2])  # Un élément sur deux</a:t>
            </a:r>
          </a:p>
        </p:txBody>
      </p:sp>
    </p:spTree>
    <p:extLst>
      <p:ext uri="{BB962C8B-B14F-4D97-AF65-F5344CB8AC3E}">
        <p14:creationId xmlns:p14="http://schemas.microsoft.com/office/powerpoint/2010/main" val="5040087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Filtrage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x = </a:t>
            </a:r>
            <a:r>
              <a:rPr lang="fr-FR" dirty="0" err="1"/>
              <a:t>np.random.rand</a:t>
            </a:r>
            <a:r>
              <a:rPr lang="fr-FR" dirty="0"/>
              <a:t>(10)</a:t>
            </a:r>
          </a:p>
          <a:p>
            <a:r>
              <a:rPr lang="fr-FR" dirty="0"/>
              <a:t>x &gt; 0.5</a:t>
            </a:r>
          </a:p>
          <a:p>
            <a:pPr lvl="1"/>
            <a:r>
              <a:rPr lang="fr-FR" dirty="0"/>
              <a:t>Renvoie un tableau de booléens</a:t>
            </a:r>
          </a:p>
          <a:p>
            <a:r>
              <a:rPr lang="fr-FR" dirty="0"/>
              <a:t>X[</a:t>
            </a:r>
            <a:r>
              <a:rPr lang="fr-FR" dirty="0" err="1"/>
              <a:t>booleans</a:t>
            </a:r>
            <a:r>
              <a:rPr lang="fr-FR" dirty="0"/>
              <a:t>]</a:t>
            </a:r>
          </a:p>
          <a:p>
            <a:pPr lvl="1"/>
            <a:r>
              <a:rPr lang="fr-FR" dirty="0"/>
              <a:t>Filtre</a:t>
            </a:r>
          </a:p>
          <a:p>
            <a:pPr lvl="1"/>
            <a:r>
              <a:rPr lang="fr-FR" dirty="0"/>
              <a:t>X[x &gt; 0.5]</a:t>
            </a:r>
          </a:p>
        </p:txBody>
      </p:sp>
    </p:spTree>
    <p:extLst>
      <p:ext uri="{BB962C8B-B14F-4D97-AF65-F5344CB8AC3E}">
        <p14:creationId xmlns:p14="http://schemas.microsoft.com/office/powerpoint/2010/main" val="18713904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Matplotlib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Matplotlib</a:t>
            </a:r>
            <a:r>
              <a:rPr lang="fr-FR" dirty="0"/>
              <a:t> est complètement compatible avec les </a:t>
            </a:r>
            <a:r>
              <a:rPr lang="fr-FR" dirty="0" err="1"/>
              <a:t>np.array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029252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CDD1C-24C4-4E07-82A2-44B5059E9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5656" y="260648"/>
            <a:ext cx="7269480" cy="994172"/>
          </a:xfrm>
        </p:spPr>
        <p:txBody>
          <a:bodyPr/>
          <a:lstStyle/>
          <a:p>
            <a:r>
              <a:rPr lang="en-US" dirty="0" err="1"/>
              <a:t>Sauvegarder</a:t>
            </a:r>
            <a:r>
              <a:rPr lang="en-US" dirty="0"/>
              <a:t> des tableaux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7A053-A5F8-4E63-B7DA-25AD00724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625" y="2234443"/>
            <a:ext cx="7886700" cy="3263504"/>
          </a:xfrm>
        </p:spPr>
        <p:txBody>
          <a:bodyPr/>
          <a:lstStyle/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np.savez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(‘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data.npz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’, v1 = v1)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data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np.load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(‘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data.npz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’)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v1 = data[‘v1’]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2AF31-972C-4097-B00B-E999A94BE9E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>
            <a:normAutofit fontScale="25000" lnSpcReduction="20000"/>
          </a:bodyPr>
          <a:lstStyle/>
          <a:p>
            <a:fld id="{4FAB73BC-B049-4115-A692-8D63A059BFB8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32885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8256</TotalTime>
  <Words>574</Words>
  <Application>Microsoft Office PowerPoint</Application>
  <PresentationFormat>Affichage à l'écran (4:3)</PresentationFormat>
  <Paragraphs>104</Paragraphs>
  <Slides>18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4" baseType="lpstr">
      <vt:lpstr>Arial</vt:lpstr>
      <vt:lpstr>Cambria Math</vt:lpstr>
      <vt:lpstr>Courier New</vt:lpstr>
      <vt:lpstr>Monotype Sorts</vt:lpstr>
      <vt:lpstr>Times New Roman</vt:lpstr>
      <vt:lpstr>cvc</vt:lpstr>
      <vt:lpstr>Présentation PowerPoint</vt:lpstr>
      <vt:lpstr>Python et les Maths</vt:lpstr>
      <vt:lpstr>Présentation PowerPoint</vt:lpstr>
      <vt:lpstr>Arrays</vt:lpstr>
      <vt:lpstr>Présentation PowerPoint</vt:lpstr>
      <vt:lpstr>Arrays, creation</vt:lpstr>
      <vt:lpstr>arange</vt:lpstr>
      <vt:lpstr>Arrays, creation</vt:lpstr>
      <vt:lpstr>Random</vt:lpstr>
      <vt:lpstr>Arrays, creation</vt:lpstr>
      <vt:lpstr>Arrays, danger zone</vt:lpstr>
      <vt:lpstr>Opérateurs et fonctions</vt:lpstr>
      <vt:lpstr>Réduction</vt:lpstr>
      <vt:lpstr>Propriétés des tableaux</vt:lpstr>
      <vt:lpstr>Indexation</vt:lpstr>
      <vt:lpstr>Filtrage</vt:lpstr>
      <vt:lpstr>Matplotlib</vt:lpstr>
      <vt:lpstr>Sauvegarder des tableaux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314</cp:revision>
  <dcterms:created xsi:type="dcterms:W3CDTF">2000-04-10T19:33:12Z</dcterms:created>
  <dcterms:modified xsi:type="dcterms:W3CDTF">2026-09-09T06:42:28Z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